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ru-RU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319638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80284205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ru-RU"/>
              <a:t>10/30/2013</a:t>
            </a:fld>
            <a:endParaRPr lang="ru-RU"/>
          </a:p>
        </p:txBody>
      </p:sp>
      <p:sp>
        <p:nvSpPr>
          <p:cNvPr id="2028057454" name="Рисунок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1744254508" name="Заметка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421081194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15714423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319288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32882814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06808419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F1F649-7695-80F5-9701-CCEAE394C69C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58D4CF-DBBE-1916-ABA7-D57C0C8021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5625F3-FA9B-8667-11DC-5698A49F32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F447535-D246-6DED-CE93-C8DED4452F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44C14A-F8D3-35D1-C3B6-5B7F509A5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9AC517-8BA4-9FE1-B38D-1E424EF112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C82B5-E11D-E14B-C44F-8FC036AE6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481A7B-66EE-369C-41E4-B7D2FFB879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C8273B-80FB-2094-A1C5-6B78D78B13F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D9BF7D-0478-54D7-062A-A9C38DB7D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841082-2F8E-8296-AE50-D0A6BB021B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108A46-DB5E-341E-A14D-D8ABAA9D0F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26A9D3-D73D-49F1-DDE1-64391AD8596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952736" name="Рисунок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894751695" name="Текст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ru-RU">
              <a:latin typeface="Arial"/>
              <a:cs typeface="Arial"/>
            </a:endParaRPr>
          </a:p>
        </p:txBody>
      </p:sp>
      <p:sp>
        <p:nvSpPr>
          <p:cNvPr id="1740194593" name="Номер слайда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D3F10DE-29ED-7292-7C77-194D7993B5E0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465364" name="Заголовок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00419998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25067226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41084286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1162950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2581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64375733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397927505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12044561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34279231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85206" name="Заголовок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56743542" name="Текст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72469865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97756103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3976140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55490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83679183" name="Объект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900589912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097103787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51490915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6948843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834879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5671561" name="Текст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21032065" name="Объект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00681953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59484755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21266108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714743440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15431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916118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209565128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513226589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466293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4184786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244047520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955688329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122640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57375875" name="Объект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461628435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3134944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54483597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1581967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047725" name="Заголовок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949408223" name="Рисунок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Нажмите, чтобы добавить изображение</a:t>
            </a:r>
            <a:endParaRPr lang="ru-RU"/>
          </a:p>
        </p:txBody>
      </p:sp>
      <p:sp>
        <p:nvSpPr>
          <p:cNvPr id="914318411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76797199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302788623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801624938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84396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518852566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721363740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302937890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0095054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1733174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423347348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25565041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171360705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54584519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26320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173454795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112297177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ru-RU"/>
              <a:t>30.10.2013</a:t>
            </a:fld>
            <a:endParaRPr lang="ru-RU"/>
          </a:p>
        </p:txBody>
      </p:sp>
      <p:sp>
        <p:nvSpPr>
          <p:cNvPr id="61790614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69182394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png"/><Relationship Id="rId7" Type="http://schemas.openxmlformats.org/officeDocument/2006/relationships/image" Target="../media/image6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5819847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мобильного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приложения - интерактивного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путеводителя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MyVoronesh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lang="ru-RU"/>
          </a:p>
        </p:txBody>
      </p:sp>
      <p:sp>
        <p:nvSpPr>
          <p:cNvPr id="291382556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471550" y="5106987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Обучающийся: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Нечаева К.В.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 курс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Тарасов В.С.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ст. преподаватель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Консультант: Ушаков В.А. ассистент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088542254" name="Subtitle 2"/>
          <p:cNvSpPr>
            <a:spLocks noGrp="1"/>
          </p:cNvSpPr>
          <p:nvPr/>
        </p:nvSpPr>
        <p:spPr bwMode="auto">
          <a:xfrm flipH="0" flipV="0"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/>
          </a:p>
          <a:p>
            <a:pPr>
              <a:defRPr/>
            </a:pPr>
            <a:endParaRPr sz="36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 компьютерных наук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 программирования и информ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ационных технологий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2761908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Проблемы и актуальность</a:t>
            </a:r>
            <a:endParaRPr/>
          </a:p>
        </p:txBody>
      </p:sp>
      <p:sp>
        <p:nvSpPr>
          <p:cNvPr id="2026030433" name="Объект 2"/>
          <p:cNvSpPr>
            <a:spLocks noGrp="1"/>
          </p:cNvSpPr>
          <p:nvPr>
            <p:ph idx="1"/>
          </p:nvPr>
        </p:nvSpPr>
        <p:spPr bwMode="auto">
          <a:xfrm flipH="0" flipV="0">
            <a:off x="838199" y="1825624"/>
            <a:ext cx="10515600" cy="477618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Проблемы: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Существующие путеводители 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Отсутствие мотивации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Разрозненность информации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Актуальность: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Рост внутреннего туризма в России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Запрос на интерактив и геймификацию</a:t>
            </a:r>
            <a:endParaRPr sz="28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Воронеж богат историей</a:t>
            </a:r>
            <a:endParaRPr/>
          </a:p>
        </p:txBody>
      </p:sp>
      <p:sp>
        <p:nvSpPr>
          <p:cNvPr id="663758250" name=""/>
          <p:cNvSpPr txBox="1"/>
          <p:nvPr/>
        </p:nvSpPr>
        <p:spPr bwMode="auto">
          <a:xfrm rot="0" flipH="0" flipV="0">
            <a:off x="10517547" y="5943600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72645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Цель</a:t>
            </a:r>
            <a:r>
              <a:rPr lang="ru-RU" sz="4400" b="0" i="0" u="none" strike="noStrike" cap="none" spc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работы</a:t>
            </a:r>
            <a:endParaRPr/>
          </a:p>
        </p:txBody>
      </p:sp>
      <p:sp>
        <p:nvSpPr>
          <p:cNvPr id="1474145459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marL="0" indent="0">
              <a:buFont typeface="Arial"/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Создание мобильного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приложения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специализированного на предоставлении туристических и экскурсионных услуг для города Воронеж с применением игровых механик.</a:t>
            </a:r>
            <a:endParaRPr/>
          </a:p>
        </p:txBody>
      </p:sp>
      <p:sp>
        <p:nvSpPr>
          <p:cNvPr id="537942828" name=""/>
          <p:cNvSpPr txBox="1"/>
          <p:nvPr/>
        </p:nvSpPr>
        <p:spPr bwMode="auto">
          <a:xfrm rot="0" flipH="0" flipV="0">
            <a:off x="10517547" y="5943600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046633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Постановка задачи</a:t>
            </a:r>
            <a:endParaRPr/>
          </a:p>
        </p:txBody>
      </p:sp>
      <p:sp>
        <p:nvSpPr>
          <p:cNvPr id="1047648642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анализ рынка мобильных путеводителей и туристических приложений: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определение функций разрабатываемой системы;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выбор средств разработки;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проектирование архитектуры приложения и базы данных;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реализация функций разрабатываемой системы.</a:t>
            </a:r>
            <a:endParaRPr/>
          </a:p>
        </p:txBody>
      </p:sp>
      <p:sp>
        <p:nvSpPr>
          <p:cNvPr id="1655086114" name=""/>
          <p:cNvSpPr txBox="1"/>
          <p:nvPr/>
        </p:nvSpPr>
        <p:spPr bwMode="auto">
          <a:xfrm rot="0" flipH="0" flipV="0">
            <a:off x="10517547" y="5943600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186836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Обзор аналогов</a:t>
            </a:r>
            <a:endParaRPr/>
          </a:p>
        </p:txBody>
      </p:sp>
      <p:sp>
        <p:nvSpPr>
          <p:cNvPr id="1898235608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pic>
        <p:nvPicPr>
          <p:cNvPr id="184578471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81048" y="1825623"/>
            <a:ext cx="9389700" cy="4223692"/>
          </a:xfrm>
          <a:prstGeom prst="rect">
            <a:avLst/>
          </a:prstGeom>
        </p:spPr>
      </p:pic>
      <p:sp>
        <p:nvSpPr>
          <p:cNvPr id="410313296" name=""/>
          <p:cNvSpPr txBox="1"/>
          <p:nvPr/>
        </p:nvSpPr>
        <p:spPr bwMode="auto">
          <a:xfrm rot="0" flipH="0" flipV="0">
            <a:off x="10517547" y="5943600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11886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4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Средства реализации</a:t>
            </a:r>
            <a:endParaRPr/>
          </a:p>
        </p:txBody>
      </p:sp>
      <p:sp>
        <p:nvSpPr>
          <p:cNvPr id="1721355951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Я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зык программирования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Kotlin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Jetpack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Compose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Yandex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Maps Mobile SDK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Ф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реймворк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Ktor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СУБД MySQL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ORM </a:t>
            </a:r>
            <a:r>
              <a:rPr lang="ru-RU" sz="2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Exposed</a:t>
            </a:r>
            <a:endParaRPr/>
          </a:p>
        </p:txBody>
      </p:sp>
      <p:sp>
        <p:nvSpPr>
          <p:cNvPr id="1935214419" name=""/>
          <p:cNvSpPr txBox="1"/>
          <p:nvPr/>
        </p:nvSpPr>
        <p:spPr bwMode="auto">
          <a:xfrm rot="0" flipH="0" flipV="0">
            <a:off x="10517547" y="5943600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6/</a:t>
            </a:r>
            <a:r>
              <a:rPr lang="en-US"/>
              <a:t>14</a:t>
            </a:r>
            <a:endParaRPr/>
          </a:p>
        </p:txBody>
      </p:sp>
      <p:pic>
        <p:nvPicPr>
          <p:cNvPr id="110058404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372350" y="4591048"/>
            <a:ext cx="1813917" cy="1813917"/>
          </a:xfrm>
          <a:prstGeom prst="rect">
            <a:avLst/>
          </a:prstGeom>
        </p:spPr>
      </p:pic>
      <p:pic>
        <p:nvPicPr>
          <p:cNvPr id="1769410262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9643500" y="3151260"/>
            <a:ext cx="2059105" cy="2015457"/>
          </a:xfrm>
          <a:prstGeom prst="rect">
            <a:avLst/>
          </a:prstGeom>
        </p:spPr>
      </p:pic>
      <p:pic>
        <p:nvPicPr>
          <p:cNvPr id="1251483890" name=""/>
          <p:cNvPicPr>
            <a:picLocks noChangeAspect="1"/>
          </p:cNvPicPr>
          <p:nvPr/>
        </p:nvPicPr>
        <p:blipFill rotWithShape="1">
          <a:blip r:embed="rId5"/>
          <a:srcRect l="36595" t="22543" r="36996" b="22842"/>
          <a:stretch/>
        </p:blipFill>
        <p:spPr bwMode="auto">
          <a:xfrm flipH="0" flipV="0">
            <a:off x="9488424" y="991057"/>
            <a:ext cx="1541439" cy="1669132"/>
          </a:xfrm>
          <a:prstGeom prst="rect">
            <a:avLst/>
          </a:prstGeom>
        </p:spPr>
      </p:pic>
      <p:pic>
        <p:nvPicPr>
          <p:cNvPr id="379129383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7029448" y="2438398"/>
            <a:ext cx="1981198" cy="1981198"/>
          </a:xfrm>
          <a:prstGeom prst="rect">
            <a:avLst/>
          </a:prstGeom>
        </p:spPr>
      </p:pic>
      <p:pic>
        <p:nvPicPr>
          <p:cNvPr id="54160233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7372350" y="621841"/>
            <a:ext cx="2038348" cy="2038348"/>
          </a:xfrm>
          <a:prstGeom prst="rect">
            <a:avLst/>
          </a:prstGeom>
        </p:spPr>
      </p:pic>
      <p:sp>
        <p:nvSpPr>
          <p:cNvPr id="1843352614" name=""/>
          <p:cNvSpPr txBox="1"/>
          <p:nvPr/>
        </p:nvSpPr>
        <p:spPr bwMode="auto">
          <a:xfrm rot="0" flipH="0" flipV="0">
            <a:off x="10669947" y="6095999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9362367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538371" y="533538"/>
            <a:ext cx="5383573" cy="6053818"/>
          </a:xfrm>
          <a:prstGeom prst="rect">
            <a:avLst/>
          </a:prstGeom>
        </p:spPr>
      </p:pic>
      <p:sp>
        <p:nvSpPr>
          <p:cNvPr id="42471834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База данных</a:t>
            </a:r>
            <a:endParaRPr/>
          </a:p>
        </p:txBody>
      </p:sp>
      <p:sp>
        <p:nvSpPr>
          <p:cNvPr id="1427329111" name=""/>
          <p:cNvSpPr txBox="1"/>
          <p:nvPr/>
        </p:nvSpPr>
        <p:spPr bwMode="auto">
          <a:xfrm rot="0" flipH="0" flipV="0">
            <a:off x="10517547" y="5943600"/>
            <a:ext cx="93776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860474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Варианты использования</a:t>
            </a:r>
            <a:endParaRPr/>
          </a:p>
        </p:txBody>
      </p:sp>
      <p:pic>
        <p:nvPicPr>
          <p:cNvPr id="191201515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25553" y="3848130"/>
            <a:ext cx="4450123" cy="2162142"/>
          </a:xfrm>
          <a:prstGeom prst="rect">
            <a:avLst/>
          </a:prstGeom>
        </p:spPr>
      </p:pic>
      <p:pic>
        <p:nvPicPr>
          <p:cNvPr id="154475373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975677" y="1460430"/>
            <a:ext cx="6570570" cy="4483168"/>
          </a:xfrm>
          <a:prstGeom prst="rect">
            <a:avLst/>
          </a:prstGeom>
        </p:spPr>
      </p:pic>
      <p:sp>
        <p:nvSpPr>
          <p:cNvPr id="1483370814" name=""/>
          <p:cNvSpPr txBox="1"/>
          <p:nvPr/>
        </p:nvSpPr>
        <p:spPr bwMode="auto">
          <a:xfrm rot="0" flipH="0" flipV="0">
            <a:off x="10517547" y="5943600"/>
            <a:ext cx="9381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9410353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Вход пользователя в систему</a:t>
            </a:r>
            <a:endParaRPr/>
          </a:p>
        </p:txBody>
      </p:sp>
      <p:pic>
        <p:nvPicPr>
          <p:cNvPr id="2006418981" name="Picture 2"/>
          <p:cNvPicPr>
            <a:picLocks noChangeAspect="1" noChangeArrowheads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68641" y="1712472"/>
            <a:ext cx="11535924" cy="4166750"/>
          </a:xfrm>
          <a:prstGeom prst="rect">
            <a:avLst/>
          </a:prstGeom>
          <a:noFill/>
        </p:spPr>
      </p:pic>
      <p:sp>
        <p:nvSpPr>
          <p:cNvPr id="127501581" name=""/>
          <p:cNvSpPr txBox="1"/>
          <p:nvPr/>
        </p:nvSpPr>
        <p:spPr bwMode="auto">
          <a:xfrm rot="0" flipH="0" flipV="0">
            <a:off x="10517547" y="5943600"/>
            <a:ext cx="9381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7512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Реализация интерфейса</a:t>
            </a:r>
            <a:endParaRPr/>
          </a:p>
        </p:txBody>
      </p:sp>
      <p:pic>
        <p:nvPicPr>
          <p:cNvPr id="1731209562" name=""/>
          <p:cNvPicPr>
            <a:picLocks noChangeAspect="1"/>
          </p:cNvPicPr>
          <p:nvPr/>
        </p:nvPicPr>
        <p:blipFill rotWithShape="1">
          <a:blip r:embed="rId3"/>
          <a:srcRect l="0" t="812" r="0" b="876"/>
          <a:stretch/>
        </p:blipFill>
        <p:spPr bwMode="auto">
          <a:xfrm flipH="0" flipV="0">
            <a:off x="2313011" y="1394135"/>
            <a:ext cx="2758488" cy="5367386"/>
          </a:xfrm>
          <a:prstGeom prst="rect">
            <a:avLst/>
          </a:prstGeom>
        </p:spPr>
      </p:pic>
      <p:pic>
        <p:nvPicPr>
          <p:cNvPr id="1696994247" name=""/>
          <p:cNvPicPr>
            <a:picLocks noChangeAspect="1"/>
          </p:cNvPicPr>
          <p:nvPr/>
        </p:nvPicPr>
        <p:blipFill rotWithShape="1">
          <a:blip r:embed="rId4"/>
          <a:srcRect l="1933" t="1354" r="0" b="0"/>
          <a:stretch/>
        </p:blipFill>
        <p:spPr bwMode="auto">
          <a:xfrm flipH="0" flipV="0">
            <a:off x="7309338" y="1314450"/>
            <a:ext cx="2659456" cy="5447072"/>
          </a:xfrm>
          <a:prstGeom prst="rect">
            <a:avLst/>
          </a:prstGeom>
        </p:spPr>
      </p:pic>
      <p:pic>
        <p:nvPicPr>
          <p:cNvPr id="31241437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1266610" flipH="0" flipV="0">
            <a:off x="1223326" y="2486336"/>
            <a:ext cx="628509" cy="758921"/>
          </a:xfrm>
          <a:prstGeom prst="rect">
            <a:avLst/>
          </a:prstGeom>
        </p:spPr>
      </p:pic>
      <p:pic>
        <p:nvPicPr>
          <p:cNvPr id="178542507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11041301" flipH="0" flipV="0">
            <a:off x="10467865" y="1477112"/>
            <a:ext cx="850950" cy="1027515"/>
          </a:xfrm>
          <a:prstGeom prst="rect">
            <a:avLst/>
          </a:prstGeom>
        </p:spPr>
      </p:pic>
      <p:sp>
        <p:nvSpPr>
          <p:cNvPr id="1460557322" name=""/>
          <p:cNvSpPr txBox="1"/>
          <p:nvPr/>
        </p:nvSpPr>
        <p:spPr bwMode="auto">
          <a:xfrm rot="0" flipH="0" flipV="0">
            <a:off x="10669947" y="6095999"/>
            <a:ext cx="9381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  <p:sp>
        <p:nvSpPr>
          <p:cNvPr id="1280640338" name="Объект 6"/>
          <p:cNvSpPr>
            <a:spLocks noGrp="1"/>
          </p:cNvSpPr>
          <p:nvPr/>
        </p:nvSpPr>
        <p:spPr bwMode="auto">
          <a:xfrm flipH="0" flipV="0">
            <a:off x="232799" y="3047999"/>
            <a:ext cx="1943099" cy="76199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7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7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/>
              <a:t>    </a:t>
            </a:r>
            <a:r>
              <a:rPr lang="ru-RU" sz="2000"/>
              <a:t>  </a:t>
            </a:r>
            <a:r>
              <a:rPr lang="ru-RU" sz="2800"/>
              <a:t>Профиль</a:t>
            </a:r>
            <a:endParaRPr sz="2800"/>
          </a:p>
        </p:txBody>
      </p:sp>
      <p:sp>
        <p:nvSpPr>
          <p:cNvPr id="42636527" name="Объект 6"/>
          <p:cNvSpPr>
            <a:spLocks noGrp="1"/>
          </p:cNvSpPr>
          <p:nvPr/>
        </p:nvSpPr>
        <p:spPr bwMode="auto">
          <a:xfrm flipH="0" flipV="0">
            <a:off x="9968795" y="607275"/>
            <a:ext cx="2136321" cy="8412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7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7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/>
              <a:t>    </a:t>
            </a:r>
            <a:r>
              <a:rPr lang="ru-RU" sz="2000"/>
              <a:t>  </a:t>
            </a:r>
            <a:r>
              <a:rPr sz="2800"/>
              <a:t>Фотоальбом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2329149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Реализация интерфейса</a:t>
            </a:r>
            <a:endParaRPr/>
          </a:p>
        </p:txBody>
      </p:sp>
      <p:sp>
        <p:nvSpPr>
          <p:cNvPr id="1718848688" name=""/>
          <p:cNvSpPr txBox="1"/>
          <p:nvPr/>
        </p:nvSpPr>
        <p:spPr bwMode="auto">
          <a:xfrm rot="0" flipH="0" flipV="0">
            <a:off x="10517547" y="5943600"/>
            <a:ext cx="9381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  <p:pic>
        <p:nvPicPr>
          <p:cNvPr id="229149093" name="Рисунок 5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7613616" y="1299782"/>
            <a:ext cx="2457657" cy="5367386"/>
          </a:xfrm>
          <a:prstGeom prst="rect">
            <a:avLst/>
          </a:prstGeom>
        </p:spPr>
      </p:pic>
      <p:pic>
        <p:nvPicPr>
          <p:cNvPr id="1580769525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17643041" flipH="0" flipV="1">
            <a:off x="5618269" y="5001516"/>
            <a:ext cx="1337063" cy="1614495"/>
          </a:xfrm>
          <a:prstGeom prst="rect">
            <a:avLst/>
          </a:prstGeom>
        </p:spPr>
      </p:pic>
      <p:pic>
        <p:nvPicPr>
          <p:cNvPr id="1095049487" name=""/>
          <p:cNvPicPr>
            <a:picLocks noChangeAspect="1"/>
          </p:cNvPicPr>
          <p:nvPr/>
        </p:nvPicPr>
        <p:blipFill rotWithShape="1">
          <a:blip r:embed="rId5"/>
          <a:srcRect l="0" t="1322" r="0" b="0"/>
          <a:stretch/>
        </p:blipFill>
        <p:spPr bwMode="auto">
          <a:xfrm flipH="0" flipV="0">
            <a:off x="2116533" y="1360825"/>
            <a:ext cx="2758487" cy="5387421"/>
          </a:xfrm>
          <a:prstGeom prst="rect">
            <a:avLst/>
          </a:prstGeom>
        </p:spPr>
      </p:pic>
      <p:sp>
        <p:nvSpPr>
          <p:cNvPr id="1977041740" name="Объект 6"/>
          <p:cNvSpPr>
            <a:spLocks noGrp="1"/>
          </p:cNvSpPr>
          <p:nvPr/>
        </p:nvSpPr>
        <p:spPr bwMode="auto">
          <a:xfrm flipH="0" flipV="0">
            <a:off x="36770" y="4370613"/>
            <a:ext cx="2136321" cy="841261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7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7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/>
              <a:t>    </a:t>
            </a:r>
            <a:r>
              <a:rPr lang="ru-RU" sz="2000"/>
              <a:t>  </a:t>
            </a:r>
            <a:r>
              <a:rPr sz="2800"/>
              <a:t>Карта</a:t>
            </a:r>
            <a:endParaRPr sz="2800"/>
          </a:p>
        </p:txBody>
      </p:sp>
      <p:pic>
        <p:nvPicPr>
          <p:cNvPr id="1316401754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rot="12315982" flipH="1" flipV="1">
            <a:off x="1037354" y="3624073"/>
            <a:ext cx="595285" cy="7188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6231195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Реализация интерфейса</a:t>
            </a:r>
            <a:endParaRPr/>
          </a:p>
        </p:txBody>
      </p:sp>
      <p:pic>
        <p:nvPicPr>
          <p:cNvPr id="215630892" name=""/>
          <p:cNvPicPr>
            <a:picLocks noChangeAspect="1"/>
          </p:cNvPicPr>
          <p:nvPr/>
        </p:nvPicPr>
        <p:blipFill rotWithShape="1">
          <a:blip r:embed="rId3"/>
          <a:srcRect l="0" t="1026" r="0" b="789"/>
          <a:stretch/>
        </p:blipFill>
        <p:spPr bwMode="auto">
          <a:xfrm flipH="0" flipV="0">
            <a:off x="2110151" y="1348650"/>
            <a:ext cx="2705657" cy="5367386"/>
          </a:xfrm>
          <a:prstGeom prst="rect">
            <a:avLst/>
          </a:prstGeom>
        </p:spPr>
      </p:pic>
      <p:pic>
        <p:nvPicPr>
          <p:cNvPr id="1986754803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7559111" y="1275433"/>
            <a:ext cx="2748885" cy="5440603"/>
          </a:xfrm>
          <a:prstGeom prst="rect">
            <a:avLst/>
          </a:prstGeom>
        </p:spPr>
      </p:pic>
      <p:pic>
        <p:nvPicPr>
          <p:cNvPr id="2101793892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rot="11290677" flipH="0" flipV="0">
            <a:off x="10442367" y="1417682"/>
            <a:ext cx="1062279" cy="1282695"/>
          </a:xfrm>
          <a:prstGeom prst="rect">
            <a:avLst/>
          </a:prstGeom>
        </p:spPr>
      </p:pic>
      <p:pic>
        <p:nvPicPr>
          <p:cNvPr id="192894900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945285" y="3013074"/>
            <a:ext cx="1037304" cy="1252536"/>
          </a:xfrm>
          <a:prstGeom prst="rect">
            <a:avLst/>
          </a:prstGeom>
        </p:spPr>
      </p:pic>
      <p:sp>
        <p:nvSpPr>
          <p:cNvPr id="900820952" name="Объект 6"/>
          <p:cNvSpPr>
            <a:spLocks noGrp="1"/>
          </p:cNvSpPr>
          <p:nvPr/>
        </p:nvSpPr>
        <p:spPr bwMode="auto">
          <a:xfrm flipH="0" flipV="0">
            <a:off x="9828468" y="365124"/>
            <a:ext cx="2136321" cy="84125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6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6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6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/>
              <a:t>    </a:t>
            </a:r>
            <a:r>
              <a:rPr lang="ru-RU" sz="2000"/>
              <a:t>  </a:t>
            </a:r>
            <a:r>
              <a:rPr lang="ru-RU" sz="2800"/>
              <a:t>Статистика</a:t>
            </a:r>
            <a:endParaRPr sz="2800"/>
          </a:p>
        </p:txBody>
      </p:sp>
      <p:sp>
        <p:nvSpPr>
          <p:cNvPr id="902682135" name=""/>
          <p:cNvSpPr txBox="1"/>
          <p:nvPr/>
        </p:nvSpPr>
        <p:spPr bwMode="auto">
          <a:xfrm rot="0" flipH="0" flipV="0">
            <a:off x="10669947" y="6095999"/>
            <a:ext cx="9381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  <p:sp>
        <p:nvSpPr>
          <p:cNvPr id="1549248794" name="Объект 6"/>
          <p:cNvSpPr>
            <a:spLocks noGrp="1"/>
          </p:cNvSpPr>
          <p:nvPr/>
        </p:nvSpPr>
        <p:spPr bwMode="auto">
          <a:xfrm flipH="0" flipV="0">
            <a:off x="74869" y="4313462"/>
            <a:ext cx="2136321" cy="84126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997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97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497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ru-RU"/>
              <a:t>    </a:t>
            </a:r>
            <a:r>
              <a:rPr lang="ru-RU" sz="2000"/>
              <a:t>  </a:t>
            </a:r>
            <a:r>
              <a:rPr sz="2500"/>
              <a:t>Квесты</a:t>
            </a:r>
            <a:endParaRPr sz="2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958530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Заключение</a:t>
            </a:r>
            <a:endParaRPr/>
          </a:p>
        </p:txBody>
      </p:sp>
      <p:sp>
        <p:nvSpPr>
          <p:cNvPr id="1239171751" name="Объект 2"/>
          <p:cNvSpPr>
            <a:spLocks noGrp="1"/>
          </p:cNvSpPr>
          <p:nvPr>
            <p:ph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SamsungOne 800C"/>
                <a:ea typeface="SamsungOne 800C"/>
                <a:cs typeface="SamsungOne 800C"/>
              </a:rPr>
              <a:t>В результате проделанной работы </a:t>
            </a:r>
            <a:endParaRPr sz="2800" b="0"/>
          </a:p>
          <a:p>
            <a:pPr marL="0" indent="0">
              <a:buNone/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выполнены все поставленные задачи:</a:t>
            </a:r>
            <a:endParaRPr lang="ru-RU" sz="28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0" indent="0">
              <a:buNone/>
              <a:defRPr/>
            </a:pPr>
            <a:endParaRPr sz="28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проанализирован рынок мобильных путеводителей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определены функций разрабатываемой системы;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выбраны средства разработки;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спроектирована архитектура приложения и базы данных;</a:t>
            </a:r>
            <a:endParaRPr sz="2800"/>
          </a:p>
          <a:p>
            <a:pPr>
              <a:defRPr/>
            </a:pPr>
            <a:r>
              <a:rPr lang="ru-RU" sz="28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реализованы функции разрабатываемой системы.</a:t>
            </a:r>
            <a:endParaRPr sz="2800"/>
          </a:p>
        </p:txBody>
      </p:sp>
      <p:sp>
        <p:nvSpPr>
          <p:cNvPr id="124193276" name=""/>
          <p:cNvSpPr txBox="1"/>
          <p:nvPr/>
        </p:nvSpPr>
        <p:spPr bwMode="auto">
          <a:xfrm rot="0" flipH="0" flipV="0">
            <a:off x="10517547" y="5943600"/>
            <a:ext cx="938128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/>
              <a:t>2/</a:t>
            </a:r>
            <a:r>
              <a:rPr lang="en-US"/>
              <a:t>14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5874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523998" y="3429000"/>
            <a:ext cx="9144000" cy="1136643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Разработка мобильного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приложения - интерактивного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путеводителя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«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MyVoronesh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»</a:t>
            </a:r>
            <a:endParaRPr lang="ru-RU"/>
          </a:p>
        </p:txBody>
      </p:sp>
      <p:sp>
        <p:nvSpPr>
          <p:cNvPr id="877212100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5471550" y="5106987"/>
            <a:ext cx="6493793" cy="125570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Обучающийся: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Нечаева К.В.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3 курс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Научный руководитель: Тарасов В.С.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 </a:t>
            </a: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ст. преподаватель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l">
              <a:defRPr/>
            </a:pPr>
            <a:r>
              <a:rPr lang="ru-RU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Консультант: Ушаков В.А. ассистент</a:t>
            </a:r>
            <a:endParaRPr lang="ru-RU" sz="24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79494767" name="Subtitle 2"/>
          <p:cNvSpPr>
            <a:spLocks noGrp="1"/>
          </p:cNvSpPr>
          <p:nvPr/>
        </p:nvSpPr>
        <p:spPr bwMode="auto">
          <a:xfrm flipH="0" flipV="0">
            <a:off x="400050" y="294480"/>
            <a:ext cx="11410949" cy="3134516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>
            <a:lvl1pPr marL="0" indent="0" algn="ctr" defTabSz="914400" rtl="0">
              <a:lnSpc>
                <a:spcPct val="90000"/>
              </a:lnSpc>
              <a:spcBef>
                <a:spcPts val="995"/>
              </a:spcBef>
              <a:buFont typeface="Arial"/>
              <a:buNone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90000"/>
              </a:lnSpc>
              <a:spcBef>
                <a:spcPts val="495"/>
              </a:spcBef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МИНОБРНАУКИ РОССИИ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ФЕДЕРАЛЬНОЕ ГОСУДАРСТВЕННОЕ БЮДЖЕТНОЕ ОБРАЗОВАТЕЛЬНОЕ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УЧРЕЖДЕНИЕ ВЫСШЕГО ОБРАЗОВАНИЯ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«ВОРОНЕЖСКИЙ ГОСУДАРСТВЕННЫЙ УНИВЕРСИТЕТ»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(ФГБОУ ВО «ВГУ»)</a:t>
            </a:r>
            <a:endParaRPr sz="3600"/>
          </a:p>
          <a:p>
            <a:pPr>
              <a:defRPr/>
            </a:pPr>
            <a:endParaRPr sz="3600"/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Факультет компьютерных наук </a:t>
            </a:r>
            <a:endParaRPr sz="24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Кафедра программирования и информ</a:t>
            </a:r>
            <a:r>
              <a:rPr sz="24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ационных технологий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2026-06-04T10:28:18Z</dcterms:modified>
</cp:coreProperties>
</file>